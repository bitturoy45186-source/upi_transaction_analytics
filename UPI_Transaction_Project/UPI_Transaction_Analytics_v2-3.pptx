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891B2"/>
                </a:solidFill>
              </a:rPr>
              <a:t>EXECUTIVE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</a:rPr>
              <a:t>Data-Driven Insights &amp; Strategic Recommendations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3703320"/>
            <a:ext cx="1920240" cy="868680"/>
          </a:xfrm>
          <a:prstGeom prst="rect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100K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3703320"/>
            <a:ext cx="1920240" cy="868680"/>
          </a:xfrm>
          <a:prstGeom prst="rect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42032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Key Insights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3703320"/>
            <a:ext cx="1920240" cy="868680"/>
          </a:xfrm>
          <a:prstGeom prst="rect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37490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36592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Recommendations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May 2026  |  Prepared by: Abhay Kumar  |  abhay.analyst11@gmail.com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3716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📊</a:t>
            </a:r>
            <a:endParaRPr 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PROBLEM STATEMENT &amp;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Why this project matters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73152" cy="3931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⚠️  Problem Statement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" y="1481328"/>
            <a:ext cx="38404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96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347"/>
                </a:solidFill>
              </a:rPr>
              <a:t>📈  UPI payments growing rapidly across India with 100B+ transactions annually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048256"/>
            <a:ext cx="38404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6654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347"/>
                </a:solidFill>
              </a:rPr>
              <a:t>🚨  Fraud attempts are increasing alongside transaction volume growth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615184"/>
            <a:ext cx="38404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6334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347"/>
                </a:solidFill>
              </a:rPr>
              <a:t>❌  Transaction failures cause direct revenue loss and poor customer experience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182112"/>
            <a:ext cx="38404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00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347"/>
                </a:solidFill>
              </a:rPr>
              <a:t>🏪  High-risk merchants and P2P gaps create unmonitored fraud vectors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84048" y="3749040"/>
            <a:ext cx="3840480" cy="475488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76732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3347"/>
                </a:solidFill>
              </a:rPr>
              <a:t>📱  Device-level vulnerabilities, especially on feature phones, remain unaddressed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914400"/>
            <a:ext cx="73152" cy="3931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🎯  Project Objectives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19472" y="1536192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85232" y="1508760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347"/>
                </a:solidFill>
              </a:rPr>
              <a:t>Analyze 100,000 UPI transactions across 2021–2025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19472" y="210312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85232" y="2075688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347"/>
                </a:solidFill>
              </a:rPr>
              <a:t>Identify fraud patterns and high-risk segments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19472" y="267004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85232" y="2642616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347"/>
                </a:solidFill>
              </a:rPr>
              <a:t>Pinpoint top failure reasons and their business impact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19472" y="323697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85232" y="3209544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347"/>
                </a:solidFill>
              </a:rPr>
              <a:t>Build interactive Executive &amp; Fraud Analyst dashboards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19472" y="3803904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85232" y="3776472"/>
            <a:ext cx="3493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347"/>
                </a:solidFill>
              </a:rPr>
              <a:t>Provide 4 strategic recommendations with measurable targets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DATASET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7 relational tables | 2021–2025 | 100,000+ records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73152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0972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💳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upi_transaction_history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243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Core transaction data — amounts, status, timestamps, channels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21608" y="1097280"/>
            <a:ext cx="6858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0972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100,000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87452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74520"/>
            <a:ext cx="73152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" y="2057400"/>
            <a:ext cx="457200" cy="45720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1929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customer_master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0120" y="2203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Customer profiles, demographics, regions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21608" y="2057400"/>
            <a:ext cx="685800" cy="457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21608" y="2057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10,000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283464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834640"/>
            <a:ext cx="73152" cy="8412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3192" y="3017520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📱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device_info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3163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Device types, IDs, and platform details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721608" y="3017520"/>
            <a:ext cx="6858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3017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12,000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28600" y="379476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94760"/>
            <a:ext cx="731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97764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🏦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60120" y="3849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upi_account_details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0120" y="4123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UPI account linkage and validation status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721608" y="3977640"/>
            <a:ext cx="68580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21608" y="39776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12,000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91440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914400"/>
            <a:ext cx="73152" cy="84124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73752" y="1097280"/>
            <a:ext cx="457200" cy="457200"/>
          </a:xfrm>
          <a:prstGeom prst="ellipse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🏪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40680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merchant_info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40680" y="12435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Merchant profiles, categories, risk flags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202168" y="1097280"/>
            <a:ext cx="685800" cy="45720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02168" y="109728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500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187452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09160" y="1874520"/>
            <a:ext cx="73152" cy="8412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73752" y="2057400"/>
            <a:ext cx="457200" cy="457200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7375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🚨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440680" y="1929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fraud_alert_history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440680" y="22037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Flagged transactions, fraud types, monthly trends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202168" y="2057400"/>
            <a:ext cx="685800" cy="457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02168" y="20574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621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09160" y="2834640"/>
            <a:ext cx="42976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09160" y="2834640"/>
            <a:ext cx="73152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73752" y="3017520"/>
            <a:ext cx="457200" cy="4572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73752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⭐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440680" y="28895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customer_feedback_surveys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440680" y="3163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Customer satisfaction and experience ratings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8202168" y="3017520"/>
            <a:ext cx="6858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02168" y="301752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4,000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1A3347"/>
          </a:solidFill>
          <a:ln w="12700">
            <a:solidFill>
              <a:srgbClr val="1A334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46817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🗓  Time Period: 2021 – 2025   |   Total Records Analyzed: ~138,621 across all tables   |   Primary Table: upi_transaction_history (100K rows)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TOOLS &amp; TECHNOLOGIES USED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End-to-end data analytics stack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97680" cy="160020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73152" cy="1600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🟢  Data Exploration &amp; Cleaning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35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</a:rPr>
              <a:t>Microsoft Excel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Initial data exploration, column structure review, checking data types, identifying missing values visually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2976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914400"/>
            <a:ext cx="73152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0058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🔵  Database &amp; 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335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</a:rPr>
              <a:t>MySQL Workbench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Database creation, schema design, data ingestion via LOAD DATA INFILE, SQL queries &amp; validation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697480"/>
            <a:ext cx="4297680" cy="2423160"/>
          </a:xfrm>
          <a:prstGeom prst="rect">
            <a:avLst/>
          </a:prstGeom>
          <a:solidFill>
            <a:srgbClr val="FEFCE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697480"/>
            <a:ext cx="73152" cy="242316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2788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🟡  Python (Jupyter Notebook)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18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pandas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Data cleaning &amp; transformation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465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matplotlib / seaborn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Visualization &amp; exploratory data analysis (EDA)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813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scipy / statsmodels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Statistical analysis &amp; hypothesis testing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A8A04"/>
                </a:solidFill>
              </a:rPr>
              <a:t>SQLAlchemy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Python-MySQL database connection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4297680" cy="1600200"/>
          </a:xfrm>
          <a:prstGeom prst="rect">
            <a:avLst/>
          </a:prstGeom>
          <a:solidFill>
            <a:srgbClr val="FFF5F5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697480"/>
            <a:ext cx="73152" cy="1600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278892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🔴  Dashboard &amp; BI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31181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53E3E"/>
                </a:solidFill>
              </a:rPr>
              <a:t>Power BI Desktop  </a:t>
            </a:r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— Executive Dashboard + Fraud Analyst Dashboard with slicers, KPI cards, and interactive visuals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4663440"/>
            <a:ext cx="868680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Workflow:  Excel  →  MySQL  →  Python (EDA &amp; Cleaning)  →  Power BI (Dashboard)  →  Insights &amp; Recommendations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TOP 5 DATA-DRIVEN INSIGHTS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UPI Transaction Analytics — 100,000 Transactions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73152" cy="1645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</a:rPr>
              <a:t>📱  High Fraud on Feature Phones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93192" y="1572768"/>
            <a:ext cx="2194560" cy="237744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581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~2% higher fraud rate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93192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Feature phones show the highest fraud rate among all device types. Requires additional authentication layer.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1605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14400"/>
            <a:ext cx="73152" cy="16459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6AD55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20700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</a:rPr>
              <a:t>🔒  Incorrect PIN = Top Failure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73752" y="1572768"/>
            <a:ext cx="2194560" cy="237744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5819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5.87% overall failure rate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73752" y="18745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Incorrect PIN accounts for the majority of all failed transactions, causing revenue loss and poor UX.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" y="2788920"/>
            <a:ext cx="28529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" y="2788920"/>
            <a:ext cx="73152" cy="2103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" y="30815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📈  August Fraud Spike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" y="3538728"/>
            <a:ext cx="2011680" cy="22860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4787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400+ alerts in August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56032" y="3813048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Fraud alerts peaked sharply in August — likely driven by higher festive season transaction volumes.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090672" y="2788920"/>
            <a:ext cx="28529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090672" y="2788920"/>
            <a:ext cx="73152" cy="21031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55264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55264" y="30815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🏪  High-Risk Merchant Concentration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55264" y="3538728"/>
            <a:ext cx="2011680" cy="22860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54787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3 merchants flagged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55264" y="3813048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merch1201, merch1305, merch1358 show disproportionately high fraud ratios requiring immediate audit.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2788920"/>
            <a:ext cx="28529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9904" y="2788920"/>
            <a:ext cx="73152" cy="2103120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28803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6AD55"/>
                </a:solidFill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54496" y="3081528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🔄  P2P Transactions Unmonitored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54496" y="3538728"/>
            <a:ext cx="2011680" cy="22860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547872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91B2"/>
                </a:solidFill>
              </a:rPr>
              <a:t>No merchant oversight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54496" y="3813048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Large portion of peer-to-peer transactions lack merchant-level fraud controls entirely.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STRATEGIC RECOMMENDATIONS  (1 of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Targeted actions to reduce fraud, failures, and merchant risk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91440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984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Targeted Device Security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</a:rPr>
              <a:t>Target: Feature Phones &amp; Android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57276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Implement 2-factor authentication for feature phone transactions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188366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Add biometric verification for high-value transactions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945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Send real-time alerts for suspicious logins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1005840"/>
            <a:ext cx="2788920" cy="169164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051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📊  Metric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12984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347"/>
                </a:solidFill>
              </a:rPr>
              <a:t>Fraud rate: ~2% → Target: &lt;1%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⏱  Timeline: 6 months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1920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💡  Impact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21488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50% fraud reduction on feature phones saves customer trust &amp; revenue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926080"/>
            <a:ext cx="8686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926080"/>
            <a:ext cx="91440" cy="1874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63240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8152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Merchant Onboarding Review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</a:rPr>
              <a:t>Target: Top 10 High-Risk Merchants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05840" y="35844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Immediate audit of merch1201, merch1305, merch1358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895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Transaction limits for flagged merchants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Enhanced KYC + automated fraud alerts above threshold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97880" y="3017520"/>
            <a:ext cx="2788920" cy="169164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📊  Metric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3310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347"/>
                </a:solidFill>
              </a:rPr>
              <a:t>Merchant fraud ratio: 5–10% → Target: &lt;2%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35040" y="3639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⏱  Timeline: 3 months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3931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💡  Impact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41605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Cleaner ecosystem, fewer chargebacks, higher platform trust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STRATEGIC RECOMMENDATIONS  (2 of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5212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891B2"/>
                </a:solidFill>
              </a:rPr>
              <a:t>Customer education and real-time fraud prevention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91440" cy="1874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5156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984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Customer Education Campaign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</a:rPr>
              <a:t>Target: Users with Frequent PIN Failures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Push notifications educating customers on PIN security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184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PIN reset reminder after 3 failed attempts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In-app tutorial for first-time UPI users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23957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Transaction confirmation screen before final submit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1005840"/>
            <a:ext cx="2788920" cy="169164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515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📊  Metric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12984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347"/>
                </a:solidFill>
              </a:rPr>
              <a:t>Failure rate: 5.87% → Target: &lt;3%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35040" y="16276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⏱  Timeline: 3 months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1920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💡  Impact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35040" y="21488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2.87% more successful txns = direct revenue increase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8686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26080"/>
            <a:ext cx="91440" cy="18745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06324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081528"/>
            <a:ext cx="475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05840" y="3017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Real-Time Fraud Monitoring System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337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</a:rPr>
              <a:t>Target: August Spike &amp; Seasonal Patterns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5840" y="3584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Real-time fraud scoring for every transaction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05840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Automated blocking above risk threshold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05840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Monthly fraud review meetings using dashboard insights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4407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ML-based anomaly detection for unusual patterns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897880" y="3017520"/>
            <a:ext cx="2788920" cy="1691640"/>
          </a:xfrm>
          <a:prstGeom prst="rect">
            <a:avLst/>
          </a:prstGeom>
          <a:solidFill>
            <a:srgbClr val="E0F7FA"/>
          </a:solidFill>
          <a:ln w="12700">
            <a:solidFill>
              <a:srgbClr val="E0F7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30632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📊  Metric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035040" y="33101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347"/>
                </a:solidFill>
              </a:rPr>
              <a:t>Peak fraud alerts: 400/mo → Reduce by 40%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36393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⏱  Timeline: 6 months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931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💡  Impact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416052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Proactive prevention saves investigation costs + protects funds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SUMMARY &amp; NEXT STEPS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891B2"/>
                </a:solidFill>
              </a:rPr>
              <a:t>Performance targets across all four recommendation tracks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Fraud (Feature Phones)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~2% fraud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Fraud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 high-risk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2%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Failure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Fraud Alerts (Peak)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6AD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400+ in August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by 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33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34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20040" y="3520440"/>
            <a:ext cx="2606040" cy="1280160"/>
          </a:xfrm>
          <a:prstGeom prst="rect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3566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50%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11480" y="4160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Target fraud reduction on feature phones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154680" y="3520440"/>
            <a:ext cx="2606040" cy="1280160"/>
          </a:xfrm>
          <a:prstGeom prst="rect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3566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2.87%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246120" y="4160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More successful transactions after PIN fix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89320" y="3520440"/>
            <a:ext cx="2606040" cy="1280160"/>
          </a:xfrm>
          <a:prstGeom prst="rect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35661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</a:rPr>
              <a:t>40%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080760" y="4160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Reduction in peak monthly fraud alerts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004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Prepared by Abhay Kumar  |  abhay.analyst11@gmail.com  |  May 2026  |  Dataset: 100,000 UPI Transactions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097280"/>
            <a:ext cx="5029200" cy="5029200"/>
          </a:xfrm>
          <a:prstGeom prst="ellipse">
            <a:avLst/>
          </a:prstGeom>
          <a:solidFill>
            <a:srgbClr val="1A334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3347"/>
          </a:solidFill>
          <a:ln w="12700">
            <a:solidFill>
              <a:srgbClr val="1A33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91B2"/>
                </a:solidFill>
              </a:rPr>
              <a:t>UPI Transaction Analytics — Executive Report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23160"/>
            <a:ext cx="32004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 Abhay Kumar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08152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🎓  BTech CSE — JIS University, Kolkata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5570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📧  abhay.analyst11@gmail.com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032504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🛠  Excel  |  MySQL  |  Python  |  Power BI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365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D1B2A"/>
                </a:solidFill>
              </a:rPr>
              <a:t>"Turning raw data into strategic decisions — one insight at a time."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Transaction Analytics</dc:title>
  <dc:subject>PptxGenJS Presentation</dc:subject>
  <dc:creator>PptxGenJS</dc:creator>
  <cp:lastModifiedBy>PptxGenJS</cp:lastModifiedBy>
  <cp:revision>1</cp:revision>
  <dcterms:created xsi:type="dcterms:W3CDTF">2026-05-10T08:54:12Z</dcterms:created>
  <dcterms:modified xsi:type="dcterms:W3CDTF">2026-05-10T08:54:12Z</dcterms:modified>
</cp:coreProperties>
</file>